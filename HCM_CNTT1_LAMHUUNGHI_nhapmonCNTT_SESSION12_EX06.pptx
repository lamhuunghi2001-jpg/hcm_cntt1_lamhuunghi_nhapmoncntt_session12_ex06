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Hoa hồng (triệu VNĐ)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BE-4CB5-A42C-E914CFBCC18C}"/>
              </c:ext>
            </c:extLst>
          </c:dPt>
          <c:dPt>
            <c:idx val="1"/>
            <c:invertIfNegative val="0"/>
            <c:bubble3D val="0"/>
            <c:spPr>
              <a:solidFill>
                <a:srgbClr val="9DB8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BE-4CB5-A42C-E914CFBCC18C}"/>
              </c:ext>
            </c:extLst>
          </c:dPt>
          <c:dPt>
            <c:idx val="2"/>
            <c:invertIfNegative val="0"/>
            <c:bubble3D val="0"/>
            <c:spPr>
              <a:solidFill>
                <a:srgbClr val="9DB8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BE-4CB5-A42C-E914CFBCC18C}"/>
              </c:ext>
            </c:extLst>
          </c:dPt>
          <c:dPt>
            <c:idx val="3"/>
            <c:invertIfNegative val="0"/>
            <c:bubble3D val="0"/>
            <c:spPr>
              <a:solidFill>
                <a:srgbClr val="9DB8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BE-4CB5-A42C-E914CFBCC18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5BE-4CB5-A42C-E914CFBCC18C}"/>
              </c:ext>
            </c:extLst>
          </c:dPt>
          <c:dPt>
            <c:idx val="5"/>
            <c:invertIfNegative val="0"/>
            <c:bubble3D val="0"/>
            <c:spPr>
              <a:solidFill>
                <a:srgbClr val="9DB8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5BE-4CB5-A42C-E914CFBCC18C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SH001</c:v>
                </c:pt>
                <c:pt idx="1">
                  <c:v>SH002</c:v>
                </c:pt>
                <c:pt idx="2">
                  <c:v>SH003</c:v>
                </c:pt>
                <c:pt idx="3">
                  <c:v>SH004</c:v>
                </c:pt>
                <c:pt idx="4">
                  <c:v>SH005</c:v>
                </c:pt>
                <c:pt idx="5">
                  <c:v>SH006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</c:v>
                </c:pt>
                <c:pt idx="1">
                  <c:v>48</c:v>
                </c:pt>
                <c:pt idx="2">
                  <c:v>122.4</c:v>
                </c:pt>
                <c:pt idx="3">
                  <c:v>39.75</c:v>
                </c:pt>
                <c:pt idx="4">
                  <c:v>370</c:v>
                </c:pt>
                <c:pt idx="5">
                  <c:v>83.2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5BE-4CB5-A42C-E914CFBCC1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2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 giá nhà đất trực tuyến, minh bạch ngay trên điện thoại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bán nhà đất hiện nay mất thời gian và thiếu minh bạch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1280160" cy="73152"/>
          </a:xfrm>
          <a:prstGeom prst="rect">
            <a:avLst/>
          </a:prstGeom>
          <a:solidFill>
            <a:srgbClr val="1E7B34"/>
          </a:solidFill>
          <a:ln w="12700">
            <a:solidFill>
              <a:srgbClr val="1E7B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834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phải hỏi qua nhiều kênh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đặt giá không công khai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tính thủ công, dễ sai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 giúp người mua đặt giá công khai theo thời gian thực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1280160" cy="73152"/>
          </a:xfrm>
          <a:prstGeom prst="rect">
            <a:avLst/>
          </a:prstGeom>
          <a:solidFill>
            <a:srgbClr val="1E7B34"/>
          </a:solidFill>
          <a:ln w="12700">
            <a:solidFill>
              <a:srgbClr val="1E7B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834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 giới đăng tin trong vài phút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lượt đặt giá hiển thị ngay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tự động tính khi chốt phiên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 thu hoa hồng 1,5% đến 2% trên mỗi giao dịch thành công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1280160" cy="73152"/>
          </a:xfrm>
          <a:prstGeom prst="rect">
            <a:avLst/>
          </a:prstGeom>
          <a:solidFill>
            <a:srgbClr val="1E7B34"/>
          </a:solidFill>
          <a:ln w="12700">
            <a:solidFill>
              <a:srgbClr val="1E7B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834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Biệt thự: 2,0% giá bán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phố: 1,6% đến 1,8% giá bán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hộ: 1,5% giá bán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biệt thự đem lại gần 70% tổng hoa hồng của danh sách mẫu</a:t>
            </a:r>
            <a:endParaRPr lang="en-US" sz="3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822960" y="2103120"/>
          <a:ext cx="105156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hoạch: bắt đầu từ biệt thự rồi mở rộng sang nhà phố và căn hộ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1280160" cy="73152"/>
          </a:xfrm>
          <a:prstGeom prst="rect">
            <a:avLst/>
          </a:prstGeom>
          <a:solidFill>
            <a:srgbClr val="1E7B34"/>
          </a:solidFill>
          <a:ln w="12700">
            <a:solidFill>
              <a:srgbClr val="1E7B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834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1: biệt thự giá trị cao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2: nhà phố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3: căn hộ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kêu gọi vốn để đưa Smart-Home ra thị trường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1280160" cy="73152"/>
          </a:xfrm>
          <a:prstGeom prst="rect">
            <a:avLst/>
          </a:prstGeom>
          <a:solidFill>
            <a:srgbClr val="1E7B34"/>
          </a:solidFill>
          <a:ln w="12700">
            <a:solidFill>
              <a:srgbClr val="1E7B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834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ứng dụng đấu giá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Tuyển môi giới đối tác</a:t>
            </a:r>
            <a:endParaRPr lang="en-US" sz="3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thử tại một thành phố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</Words>
  <Application>Microsoft Office PowerPoint</Application>
  <PresentationFormat>Widescreen</PresentationFormat>
  <Paragraphs>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Smart-Home Pitch Deck</dc:title>
  <dc:subject>PptxGenJS Presentation</dc:subject>
  <dc:creator>PptxGenJS</dc:creator>
  <cp:lastModifiedBy>nghị lâm</cp:lastModifiedBy>
  <cp:revision>1</cp:revision>
  <dcterms:created xsi:type="dcterms:W3CDTF">2026-10-26T11:58:32Z</dcterms:created>
  <dcterms:modified xsi:type="dcterms:W3CDTF">2026-10-26T12:03:51Z</dcterms:modified>
</cp:coreProperties>
</file>